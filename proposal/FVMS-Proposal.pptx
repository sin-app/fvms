
<file path=[Content_Types].xml><?xml version="1.0" encoding="utf-8"?>
<Types xmlns="http://schemas.openxmlformats.org/package/2006/content-types">
  <Default Extension="vml" ContentType="application/vnd.openxmlformats-officedocument.vmlDrawing"/>
  <Default Extension="m4v" ContentType="video/mp4"/>
  <Default Extension="xlsx" ContentType="application/vnd.openxmlformats-officedocument.spreadsheetml.sheet"/>
  <Default Extension="gif" ContentType="image/gif"/>
  <Default Extension="png" ContentType="image/png"/>
  <Default Extension="mp4" ContentType="video/mp4"/>
  <Default Extension="svg" ContentType="image/svg+xml"/>
  <Default Extension="jpeg" ContentType="image/jpeg"/>
  <Default Extension="rels" ContentType="application/vnd.openxmlformats-package.relationships+xml"/>
  <Default Extension="jpg" ContentType="image/jpg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6.xml" ContentType="application/vnd.openxmlformats-officedocument.presentationml.notesSlid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4.xml" ContentType="application/vnd.openxmlformats-officedocument.presentationml.slide+xml"/>
  <Override PartName="/ppt/slideMasters/slideMaster14.xml" ContentType="application/vnd.openxmlformats-officedocument.presentationml.slideMaster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s/slide12.xml" ContentType="application/vnd.openxmlformats-officedocument.presentationml.slide+xml"/>
  <Override PartName="/ppt/slides/slide5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0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6.xml" ContentType="application/vnd.openxmlformats-officedocument.presentationml.slide+xml"/>
  <Override PartName="/ppt/notesSlides/notesSlide4.xml" ContentType="application/vnd.openxmlformats-officedocument.presentationml.notesSlide+xml"/>
  <Override PartName="/ppt/notesSlides/notesSlide2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Masters/slideMaster6.xml" ContentType="application/vnd.openxmlformats-officedocument.presentationml.slideMaster+xml"/>
  <Override PartName="/ppt/slideMasters/slideMaster9.xml" ContentType="application/vnd.openxmlformats-officedocument.presentationml.slideMaster+xml"/>
  <Override PartName="/ppt/tableStyles.xml" ContentType="application/vnd.openxmlformats-officedocument.presentationml.tableStyles+xml"/>
  <Override PartName="/ppt/slideMasters/slideMaster3.xml" ContentType="application/vnd.openxmlformats-officedocument.presentationml.slideMaster+xml"/>
  <Override PartName="/ppt/slides/slide4.xml" ContentType="application/vnd.openxmlformats-officedocument.presentationml.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Masters/slideMaster7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5.xml" ContentType="application/vnd.openxmlformats-officedocument.presentationml.slideMaster+xml"/>
  <Override PartName="/ppt/notesSlides/notesSlide3.xml" ContentType="application/vnd.openxmlformats-officedocument.presentationml.notesSlide+xml"/>
  <Override PartName="/ppt/slideMasters/slideMaster12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notesSlides/notesSlide10.xml" ContentType="application/vnd.openxmlformats-officedocument.presentationml.notes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tableStyles" Target="tableStyle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 noEditPoints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 noEditPoints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8/15/2026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EditPoints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 noEditPoints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 noEditPoints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 noEditPoints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 sldNum="0"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>
            <a:spLocks noGrp="1" noEditPoint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 noEditPoints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>
            <a:spLocks noGrp="1" noEditPoint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 noEditPoints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>
            <a:spLocks noGrp="1" noEditPoint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 noEditPoints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>
            <a:spLocks noGrp="1" noEditPoint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 noEditPoints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>
            <a:spLocks noGrp="1" noEditPoint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 noEditPoints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>
            <a:spLocks noGrp="1" noEditPoint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 noEditPoints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>
            <a:spLocks noGrp="1" noEditPoint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 noEditPoints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>
            <a:spLocks noGrp="1" noEditPoint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 noEditPoints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>
            <a:spLocks noGrp="1" noEditPoint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 noEditPoints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>
            <a:spLocks noGrp="1" noEditPoint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 noEditPoints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>
            <a:spLocks noGrp="1" noEditPoint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 noEditPoints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>
            <a:spLocks noGrp="1" noEditPoint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 noEditPoints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>
            <a:spLocks noGrp="1" noEditPoint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 noEditPoints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>
            <a:spLocks noGrp="1" noEditPoint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 noEditPoints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 dt="0" sldNum="0" hdr="0" ftr="0"/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283618"/>
          </a:solidFill>
        </p:spPr>
        <p:txBody>
          <a:bodyPr/>
          <a:lstStyle/>
          <a:p/>
        </p:txBody>
      </p:sp>
      <p:sp>
        <p:nvSpPr>
          <p:cNvPr id="3" name="Shape 1"/>
          <p:cNvSpPr/>
          <p:nvPr/>
        </p:nvSpPr>
        <p:spPr>
          <a:xfrm>
            <a:off x="6675120" y="640080"/>
            <a:ext cx="2194560" cy="3840480"/>
          </a:xfrm>
          <a:prstGeom prst="roundRect">
            <a:avLst>
              <a:gd name="adj" fmla="val 4167"/>
            </a:avLst>
          </a:prstGeom>
          <a:solidFill>
            <a:srgbClr val="FEFAE0"/>
          </a:solidFill>
          <a:ln w="19050">
            <a:solidFill>
              <a:srgbClr val="DDA15E"/>
            </a:solidFill>
            <a:prstDash val="dash"/>
          </a:ln>
        </p:spPr>
        <p:txBody>
          <a:bodyPr/>
          <a:lstStyle/>
          <a:p/>
        </p:txBody>
      </p:sp>
      <p:sp>
        <p:nvSpPr>
          <p:cNvPr id="4" name="Text 2"/>
          <p:cNvSpPr/>
          <p:nvPr/>
        </p:nvSpPr>
        <p:spPr>
          <a:xfrm>
            <a:off x="6675120" y="640080"/>
            <a:ext cx="2194560" cy="3840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8361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GAMBAR UI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Screenshot FVMS</a:t>
            </a:r>
            <a:endParaRPr lang="en-US" sz="14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C6C25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(mis. Dashboard / Login)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40080"/>
            <a:ext cx="5486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BC6C25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PROPOSAL SISTEM MANAJEMEN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5669280" cy="1280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FVMS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56692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06C3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Field Visit Management System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2834640"/>
            <a:ext cx="548640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8361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Sistem manajemen kunjungan lapangan terdigitalisasi untuk perencanaan, eksekusi, dan pelaporan yang terukur.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840480"/>
            <a:ext cx="5303520" cy="0"/>
          </a:xfrm>
          <a:prstGeom prst="line">
            <a:avLst/>
          </a:prstGeom>
          <a:noFill/>
          <a:ln w="19050">
            <a:solidFill>
              <a:srgbClr val="BC6C25"/>
            </a:solidFill>
            <a:prstDash val="solid"/>
          </a:ln>
        </p:spPr>
        <p:txBody>
          <a:bodyPr/>
          <a:lstStyle/>
          <a:p/>
        </p:txBody>
      </p:sp>
      <p:sp>
        <p:nvSpPr>
          <p:cNvPr id="10" name="Text 8"/>
          <p:cNvSpPr/>
          <p:nvPr/>
        </p:nvSpPr>
        <p:spPr>
          <a:xfrm>
            <a:off x="548640" y="4023360"/>
            <a:ext cx="56692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8361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Diajukan oleh: </a:t>
            </a:r>
            <a:r>
              <a:rPr lang="en-US" sz="1100" dirty="0">
                <a:solidFill>
                  <a:srgbClr val="28361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Akbar Sinyo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4343400"/>
            <a:ext cx="56692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akbarsinyotahe@gmail.com</a:t>
            </a:r>
            <a:r>
              <a:rPr lang="en-US" sz="1100" dirty="0">
                <a:solidFill>
                  <a:srgbClr val="BC6C25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    |    </a:t>
            </a:r>
            <a:r>
              <a:rPr lang="en-US" sz="11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https://github.com/sin-app/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BC6C25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DAFTAR ISI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Agenda Presentasi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C6C25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43000" y="1783080"/>
            <a:ext cx="3246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Latar Belakang &amp; Masalah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112264"/>
            <a:ext cx="3840480" cy="0"/>
          </a:xfrm>
          <a:prstGeom prst="line">
            <a:avLst/>
          </a:prstGeom>
          <a:noFill/>
          <a:ln w="9525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7" name="Text 5"/>
          <p:cNvSpPr/>
          <p:nvPr/>
        </p:nvSpPr>
        <p:spPr>
          <a:xfrm>
            <a:off x="548640" y="2167128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C6C25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2167128"/>
            <a:ext cx="3246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Solusi: FVMS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496312"/>
            <a:ext cx="3840480" cy="0"/>
          </a:xfrm>
          <a:prstGeom prst="line">
            <a:avLst/>
          </a:prstGeom>
          <a:noFill/>
          <a:ln w="9525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10" name="Text 8"/>
          <p:cNvSpPr/>
          <p:nvPr/>
        </p:nvSpPr>
        <p:spPr>
          <a:xfrm>
            <a:off x="548640" y="2551176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C6C25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43000" y="2551176"/>
            <a:ext cx="3246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Fitur Unggulan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880360"/>
            <a:ext cx="3840480" cy="0"/>
          </a:xfrm>
          <a:prstGeom prst="line">
            <a:avLst/>
          </a:prstGeom>
          <a:noFill/>
          <a:ln w="9525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13" name="Text 11"/>
          <p:cNvSpPr/>
          <p:nvPr/>
        </p:nvSpPr>
        <p:spPr>
          <a:xfrm>
            <a:off x="548640" y="2935224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C6C25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04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43000" y="2935224"/>
            <a:ext cx="3246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Pengajuan Lahan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64408"/>
            <a:ext cx="3840480" cy="0"/>
          </a:xfrm>
          <a:prstGeom prst="line">
            <a:avLst/>
          </a:prstGeom>
          <a:noFill/>
          <a:ln w="9525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16" name="Text 14"/>
          <p:cNvSpPr/>
          <p:nvPr/>
        </p:nvSpPr>
        <p:spPr>
          <a:xfrm>
            <a:off x="548640" y="3319272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C6C25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05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43000" y="3319272"/>
            <a:ext cx="3246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Galeri Antarmuka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648456"/>
            <a:ext cx="3840480" cy="0"/>
          </a:xfrm>
          <a:prstGeom prst="line">
            <a:avLst/>
          </a:prstGeom>
          <a:noFill/>
          <a:ln w="9525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19" name="Text 17"/>
          <p:cNvSpPr/>
          <p:nvPr/>
        </p:nvSpPr>
        <p:spPr>
          <a:xfrm>
            <a:off x="4754880" y="1783080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C6C25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06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349240" y="1783080"/>
            <a:ext cx="3246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Alur Kerja Lapangan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754880" y="2112264"/>
            <a:ext cx="3840480" cy="0"/>
          </a:xfrm>
          <a:prstGeom prst="line">
            <a:avLst/>
          </a:prstGeom>
          <a:noFill/>
          <a:ln w="9525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22" name="Text 20"/>
          <p:cNvSpPr/>
          <p:nvPr/>
        </p:nvSpPr>
        <p:spPr>
          <a:xfrm>
            <a:off x="4754880" y="2167128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C6C25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07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349240" y="2167128"/>
            <a:ext cx="3246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Peran Pengguna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54880" y="2496312"/>
            <a:ext cx="3840480" cy="0"/>
          </a:xfrm>
          <a:prstGeom prst="line">
            <a:avLst/>
          </a:prstGeom>
          <a:noFill/>
          <a:ln w="9525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25" name="Text 23"/>
          <p:cNvSpPr/>
          <p:nvPr/>
        </p:nvSpPr>
        <p:spPr>
          <a:xfrm>
            <a:off x="4754880" y="2551176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C6C25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08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349240" y="2551176"/>
            <a:ext cx="3246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Keamanan &amp; Teknologi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754880" y="2880360"/>
            <a:ext cx="3840480" cy="0"/>
          </a:xfrm>
          <a:prstGeom prst="line">
            <a:avLst/>
          </a:prstGeom>
          <a:noFill/>
          <a:ln w="9525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28" name="Text 26"/>
          <p:cNvSpPr/>
          <p:nvPr/>
        </p:nvSpPr>
        <p:spPr>
          <a:xfrm>
            <a:off x="4754880" y="2935224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C6C25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09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349240" y="2935224"/>
            <a:ext cx="3246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Manfaat &amp; Nilai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754880" y="3264408"/>
            <a:ext cx="3840480" cy="0"/>
          </a:xfrm>
          <a:prstGeom prst="line">
            <a:avLst/>
          </a:prstGeom>
          <a:noFill/>
          <a:ln w="9525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31" name="Text 29"/>
          <p:cNvSpPr/>
          <p:nvPr/>
        </p:nvSpPr>
        <p:spPr>
          <a:xfrm>
            <a:off x="4754880" y="3319272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C6C25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10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349240" y="3319272"/>
            <a:ext cx="3246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Roadmap Implementasi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754880" y="3648456"/>
            <a:ext cx="3840480" cy="0"/>
          </a:xfrm>
          <a:prstGeom prst="line">
            <a:avLst/>
          </a:prstGeom>
          <a:noFill/>
          <a:ln w="9525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34" name="Text 32"/>
          <p:cNvSpPr/>
          <p:nvPr/>
        </p:nvSpPr>
        <p:spPr>
          <a:xfrm>
            <a:off x="4754880" y="3703320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C6C25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11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5349240" y="3703320"/>
            <a:ext cx="3246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Penawaran &amp; Langkah Selanjutnya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754880" y="4032504"/>
            <a:ext cx="3840480" cy="0"/>
          </a:xfrm>
          <a:prstGeom prst="line">
            <a:avLst/>
          </a:prstGeom>
          <a:noFill/>
          <a:ln w="9525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37" name="Shape 35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38" name="Text 36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836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3" name="Text 1"/>
          <p:cNvSpPr/>
          <p:nvPr/>
        </p:nvSpPr>
        <p:spPr>
          <a:xfrm>
            <a:off x="731520" y="1280160"/>
            <a:ext cx="274320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DA15E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777240" y="2834640"/>
            <a:ext cx="74980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Latar Belakang &amp; Masalah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95528" y="3657600"/>
            <a:ext cx="7315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DA15E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Mengapa sistem ini dibutuhkan dan apa kendala yang dihadapi saat ini.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7" name="Text 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C6C25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Latar Belakang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76072"/>
            <a:ext cx="80467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Tantangan Kunjungan Lapangan Saat Ini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1005840" cy="64008"/>
          </a:xfrm>
          <a:prstGeom prst="rect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5" name="Shape 3"/>
          <p:cNvSpPr/>
          <p:nvPr/>
        </p:nvSpPr>
        <p:spPr>
          <a:xfrm>
            <a:off x="594360" y="1627632"/>
            <a:ext cx="292608" cy="292608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6" name="Text 4"/>
          <p:cNvSpPr/>
          <p:nvPr/>
        </p:nvSpPr>
        <p:spPr>
          <a:xfrm>
            <a:off x="1051560" y="1554480"/>
            <a:ext cx="74980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Pencatatan manual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1874520"/>
            <a:ext cx="74980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Jadwal &amp; laporan kunjungan masih dikelola lewat Excel yang rawan salah ketik.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2286000"/>
            <a:ext cx="292608" cy="292608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9" name="Text 7"/>
          <p:cNvSpPr/>
          <p:nvPr/>
        </p:nvSpPr>
        <p:spPr>
          <a:xfrm>
            <a:off x="1051560" y="2212848"/>
            <a:ext cx="74980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Duplikasi &amp; hilang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2532888"/>
            <a:ext cx="74980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Data tersebar di banyak file; mudah terduplikasi atau tertimpa antar petugas.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94360" y="2944368"/>
            <a:ext cx="292608" cy="292608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12" name="Text 10"/>
          <p:cNvSpPr/>
          <p:nvPr/>
        </p:nvSpPr>
        <p:spPr>
          <a:xfrm>
            <a:off x="1051560" y="2871216"/>
            <a:ext cx="74980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Tidak real-time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51560" y="3191256"/>
            <a:ext cx="74980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Manajemen tidak bisa memantau progres kunjungan secara langsung.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" y="3602736"/>
            <a:ext cx="292608" cy="292608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15" name="Text 13"/>
          <p:cNvSpPr/>
          <p:nvPr/>
        </p:nvSpPr>
        <p:spPr>
          <a:xfrm>
            <a:off x="1051560" y="3529584"/>
            <a:ext cx="74980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Bukti lemah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51560" y="3849624"/>
            <a:ext cx="74980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Tanpa validasi GPS &amp; foto, sulit membuktikan kunjungan benar terjadi.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4360" y="4261104"/>
            <a:ext cx="292608" cy="292608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18" name="Text 16"/>
          <p:cNvSpPr/>
          <p:nvPr/>
        </p:nvSpPr>
        <p:spPr>
          <a:xfrm>
            <a:off x="1051560" y="4187952"/>
            <a:ext cx="74980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Laporan lambat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51560" y="4507992"/>
            <a:ext cx="74980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Rekap mingguan/bulanan memakan waktu dan sering tidak akurat.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21" name="Text 19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C6C25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Solusi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76072"/>
            <a:ext cx="80467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FVMS: Sistem Kunjungan Lapangan Modern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1005840" cy="64008"/>
          </a:xfrm>
          <a:prstGeom prst="rect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5" name="Text 3"/>
          <p:cNvSpPr/>
          <p:nvPr/>
        </p:nvSpPr>
        <p:spPr>
          <a:xfrm>
            <a:off x="548640" y="1554480"/>
            <a:ext cx="448056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8361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FVMS menggantikan alur Excel manual dengan sistem web profesional yang mengelola perencanaan, eksekusi, dan pelaporan kunjungan lapangan dalam satu platform.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2688336"/>
            <a:ext cx="164592" cy="164592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7" name="Text 5"/>
          <p:cNvSpPr/>
          <p:nvPr/>
        </p:nvSpPr>
        <p:spPr>
          <a:xfrm>
            <a:off x="868680" y="2606040"/>
            <a:ext cx="4206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Akses dari HP &amp; desktop (mobile-first).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3145536"/>
            <a:ext cx="164592" cy="164592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9" name="Text 7"/>
          <p:cNvSpPr/>
          <p:nvPr/>
        </p:nvSpPr>
        <p:spPr>
          <a:xfrm>
            <a:off x="868680" y="3063240"/>
            <a:ext cx="4206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Tetap jalan saat offline via PWA.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" y="3602736"/>
            <a:ext cx="164592" cy="164592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11" name="Text 9"/>
          <p:cNvSpPr/>
          <p:nvPr/>
        </p:nvSpPr>
        <p:spPr>
          <a:xfrm>
            <a:off x="868680" y="3520440"/>
            <a:ext cx="4206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Import jadwal massal dari Excel otomatis.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394960" y="1554480"/>
            <a:ext cx="3200400" cy="2834640"/>
          </a:xfrm>
          <a:prstGeom prst="roundRect">
            <a:avLst>
              <a:gd name="adj" fmla="val 3871"/>
            </a:avLst>
          </a:prstGeom>
          <a:solidFill>
            <a:srgbClr val="283618"/>
          </a:solidFill>
        </p:spPr>
        <p:txBody>
          <a:bodyPr/>
          <a:lstStyle/>
          <a:p/>
        </p:txBody>
      </p:sp>
      <p:sp>
        <p:nvSpPr>
          <p:cNvPr id="13" name="Text 11"/>
          <p:cNvSpPr/>
          <p:nvPr/>
        </p:nvSpPr>
        <p:spPr>
          <a:xfrm>
            <a:off x="5623560" y="1783080"/>
            <a:ext cx="2743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Keunggulan Utama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23560" y="2304288"/>
            <a:ext cx="219456" cy="219456"/>
          </a:xfrm>
          <a:prstGeom prst="ellipse">
            <a:avLst/>
          </a:prstGeom>
          <a:solidFill>
            <a:srgbClr val="DDA15E"/>
          </a:solidFill>
        </p:spPr>
        <p:txBody>
          <a:bodyPr/>
          <a:lstStyle/>
          <a:p/>
        </p:txBody>
      </p:sp>
      <p:sp>
        <p:nvSpPr>
          <p:cNvPr id="15" name="Text 13"/>
          <p:cNvSpPr/>
          <p:nvPr/>
        </p:nvSpPr>
        <p:spPr>
          <a:xfrm>
            <a:off x="5943600" y="2249424"/>
            <a:ext cx="2560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Web &amp; Mobile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943600" y="2523744"/>
            <a:ext cx="2560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DA15E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Satu sistem, semua perangkat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23560" y="2871216"/>
            <a:ext cx="219456" cy="219456"/>
          </a:xfrm>
          <a:prstGeom prst="ellipse">
            <a:avLst/>
          </a:prstGeom>
          <a:solidFill>
            <a:srgbClr val="DDA15E"/>
          </a:solidFill>
        </p:spPr>
        <p:txBody>
          <a:bodyPr/>
          <a:lstStyle/>
          <a:p/>
        </p:txBody>
      </p:sp>
      <p:sp>
        <p:nvSpPr>
          <p:cNvPr id="18" name="Text 16"/>
          <p:cNvSpPr/>
          <p:nvPr/>
        </p:nvSpPr>
        <p:spPr>
          <a:xfrm>
            <a:off x="5943600" y="2816352"/>
            <a:ext cx="2560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Offline-ready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943600" y="3090672"/>
            <a:ext cx="2560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DA15E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Lanjut bekerja tanpa sinyal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23560" y="3438144"/>
            <a:ext cx="219456" cy="219456"/>
          </a:xfrm>
          <a:prstGeom prst="ellipse">
            <a:avLst/>
          </a:prstGeom>
          <a:solidFill>
            <a:srgbClr val="DDA15E"/>
          </a:solidFill>
        </p:spPr>
        <p:txBody>
          <a:bodyPr/>
          <a:lstStyle/>
          <a:p/>
        </p:txBody>
      </p:sp>
      <p:sp>
        <p:nvSpPr>
          <p:cNvPr id="21" name="Text 19"/>
          <p:cNvSpPr/>
          <p:nvPr/>
        </p:nvSpPr>
        <p:spPr>
          <a:xfrm>
            <a:off x="5943600" y="3383280"/>
            <a:ext cx="2560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Import cepat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943600" y="3657600"/>
            <a:ext cx="2560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DA15E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Jam kerja jadi hitungan menit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23560" y="4005072"/>
            <a:ext cx="219456" cy="219456"/>
          </a:xfrm>
          <a:prstGeom prst="ellipse">
            <a:avLst/>
          </a:prstGeom>
          <a:solidFill>
            <a:srgbClr val="DDA15E"/>
          </a:solidFill>
        </p:spPr>
        <p:txBody>
          <a:bodyPr/>
          <a:lstStyle/>
          <a:p/>
        </p:txBody>
      </p:sp>
      <p:sp>
        <p:nvSpPr>
          <p:cNvPr id="24" name="Text 22"/>
          <p:cNvSpPr/>
          <p:nvPr/>
        </p:nvSpPr>
        <p:spPr>
          <a:xfrm>
            <a:off x="5943600" y="3950208"/>
            <a:ext cx="2560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Real-time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943600" y="4224528"/>
            <a:ext cx="2560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DA15E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Pantau progres secara langsung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27" name="Text 2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C6C25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Fitur Unggulan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76072"/>
            <a:ext cx="80467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Enam Fitur Inti FVMS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1005840" cy="64008"/>
          </a:xfrm>
          <a:prstGeom prst="rect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5" name="Shape 3"/>
          <p:cNvSpPr/>
          <p:nvPr/>
        </p:nvSpPr>
        <p:spPr>
          <a:xfrm>
            <a:off x="548640" y="1554480"/>
            <a:ext cx="2697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6" name="Shape 4"/>
          <p:cNvSpPr/>
          <p:nvPr/>
        </p:nvSpPr>
        <p:spPr>
          <a:xfrm>
            <a:off x="731520" y="1737360"/>
            <a:ext cx="457200" cy="457200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7" name="Text 5"/>
          <p:cNvSpPr/>
          <p:nvPr/>
        </p:nvSpPr>
        <p:spPr>
          <a:xfrm>
            <a:off x="731520" y="173736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25880" y="1755648"/>
            <a:ext cx="17830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Import Excel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2304288"/>
            <a:ext cx="2295144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Upload workbook; akun petugas, master data &amp; jadwal terbuat otomatis.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74720" y="1554480"/>
            <a:ext cx="2697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11" name="Shape 9"/>
          <p:cNvSpPr/>
          <p:nvPr/>
        </p:nvSpPr>
        <p:spPr>
          <a:xfrm>
            <a:off x="3657600" y="1737360"/>
            <a:ext cx="457200" cy="457200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12" name="Text 10"/>
          <p:cNvSpPr/>
          <p:nvPr/>
        </p:nvSpPr>
        <p:spPr>
          <a:xfrm>
            <a:off x="3657600" y="173736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251960" y="1755648"/>
            <a:ext cx="17830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Jadwal &amp; Kalender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75888" y="2304288"/>
            <a:ext cx="2295144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Lihat kunjungan per hari, filter, export PDF, aksi massal.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0" y="1554480"/>
            <a:ext cx="2697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16" name="Shape 14"/>
          <p:cNvSpPr/>
          <p:nvPr/>
        </p:nvSpPr>
        <p:spPr>
          <a:xfrm>
            <a:off x="6583680" y="1737360"/>
            <a:ext cx="457200" cy="457200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17" name="Text 15"/>
          <p:cNvSpPr/>
          <p:nvPr/>
        </p:nvSpPr>
        <p:spPr>
          <a:xfrm>
            <a:off x="6583680" y="173736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178040" y="1755648"/>
            <a:ext cx="17830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Kunjungan GPS+Foto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601968" y="2304288"/>
            <a:ext cx="2295144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Validasi lokasi, unggah foto (URL bertanda), &amp; timeline aktivitas.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200400"/>
            <a:ext cx="2697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21" name="Shape 19"/>
          <p:cNvSpPr/>
          <p:nvPr/>
        </p:nvSpPr>
        <p:spPr>
          <a:xfrm>
            <a:off x="731520" y="3383280"/>
            <a:ext cx="457200" cy="457200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22" name="Text 20"/>
          <p:cNvSpPr/>
          <p:nvPr/>
        </p:nvSpPr>
        <p:spPr>
          <a:xfrm>
            <a:off x="731520" y="338328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25880" y="3401568"/>
            <a:ext cx="17830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Notifikasi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49808" y="3950208"/>
            <a:ext cx="2295144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Lonceng real-time &amp; pengingat harian otomatis (cron).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474720" y="3200400"/>
            <a:ext cx="2697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26" name="Shape 24"/>
          <p:cNvSpPr/>
          <p:nvPr/>
        </p:nvSpPr>
        <p:spPr>
          <a:xfrm>
            <a:off x="3657600" y="3383280"/>
            <a:ext cx="457200" cy="457200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27" name="Text 25"/>
          <p:cNvSpPr/>
          <p:nvPr/>
        </p:nvSpPr>
        <p:spPr>
          <a:xfrm>
            <a:off x="3657600" y="338328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251960" y="3401568"/>
            <a:ext cx="17830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Dashboard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675888" y="3950208"/>
            <a:ext cx="2295144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Kartu statistik: hari ini, besok, minggu, telat, selesai.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00800" y="3200400"/>
            <a:ext cx="2697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31" name="Shape 29"/>
          <p:cNvSpPr/>
          <p:nvPr/>
        </p:nvSpPr>
        <p:spPr>
          <a:xfrm>
            <a:off x="6583680" y="3383280"/>
            <a:ext cx="457200" cy="457200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32" name="Text 30"/>
          <p:cNvSpPr/>
          <p:nvPr/>
        </p:nvSpPr>
        <p:spPr>
          <a:xfrm>
            <a:off x="6583680" y="338328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7178040" y="3401568"/>
            <a:ext cx="17830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Laporan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6601968" y="3950208"/>
            <a:ext cx="2295144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Rekap agregat + grafik + tabel per petugas, export Excel.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36" name="Text 3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C6C25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Fitur Unggulan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76072"/>
            <a:ext cx="80467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Alur Pengajuan Lahan (Detail)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1005840" cy="64008"/>
          </a:xfrm>
          <a:prstGeom prst="rect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5" name="Shape 3"/>
          <p:cNvSpPr/>
          <p:nvPr/>
        </p:nvSpPr>
        <p:spPr>
          <a:xfrm>
            <a:off x="457200" y="1645920"/>
            <a:ext cx="1572768" cy="17373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6" name="Shape 4"/>
          <p:cNvSpPr/>
          <p:nvPr/>
        </p:nvSpPr>
        <p:spPr>
          <a:xfrm>
            <a:off x="1042416" y="1755648"/>
            <a:ext cx="402336" cy="402336"/>
          </a:xfrm>
          <a:prstGeom prst="ellipse">
            <a:avLst/>
          </a:prstGeom>
          <a:solidFill>
            <a:srgbClr val="283618"/>
          </a:solidFill>
        </p:spPr>
        <p:txBody>
          <a:bodyPr/>
          <a:lstStyle/>
          <a:p/>
        </p:txBody>
      </p:sp>
      <p:sp>
        <p:nvSpPr>
          <p:cNvPr id="7" name="Text 5"/>
          <p:cNvSpPr/>
          <p:nvPr/>
        </p:nvSpPr>
        <p:spPr>
          <a:xfrm>
            <a:off x="1042416" y="1755648"/>
            <a:ext cx="402336" cy="40233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2212848"/>
            <a:ext cx="1481328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Ajukan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2487168"/>
            <a:ext cx="1481328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C6C25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Produksi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2706624"/>
            <a:ext cx="1426464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Isi lokasi, data tanam &amp; member, GPS + akurasi, foto (maks. 10). Bisa offline.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029968" y="1737360"/>
            <a:ext cx="182880" cy="40233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C6C25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212848" y="1645920"/>
            <a:ext cx="1572768" cy="17373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13" name="Shape 11"/>
          <p:cNvSpPr/>
          <p:nvPr/>
        </p:nvSpPr>
        <p:spPr>
          <a:xfrm>
            <a:off x="2798064" y="1755648"/>
            <a:ext cx="402336" cy="402336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14" name="Text 12"/>
          <p:cNvSpPr/>
          <p:nvPr/>
        </p:nvSpPr>
        <p:spPr>
          <a:xfrm>
            <a:off x="2798064" y="1755648"/>
            <a:ext cx="402336" cy="40233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258568" y="2212848"/>
            <a:ext cx="1481328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Notifikasi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258568" y="2487168"/>
            <a:ext cx="1481328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C6C25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Admin &amp; QC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2706624"/>
            <a:ext cx="1426464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Lonceng + web push real-time ke Admin/QC sesuai scope kabupaten.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785616" y="1737360"/>
            <a:ext cx="182880" cy="40233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C6C25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968496" y="1645920"/>
            <a:ext cx="1572768" cy="17373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20" name="Shape 18"/>
          <p:cNvSpPr/>
          <p:nvPr/>
        </p:nvSpPr>
        <p:spPr>
          <a:xfrm>
            <a:off x="4553712" y="1755648"/>
            <a:ext cx="402336" cy="402336"/>
          </a:xfrm>
          <a:prstGeom prst="ellipse">
            <a:avLst/>
          </a:prstGeom>
          <a:solidFill>
            <a:srgbClr val="283618"/>
          </a:solidFill>
        </p:spPr>
        <p:txBody>
          <a:bodyPr/>
          <a:lstStyle/>
          <a:p/>
        </p:txBody>
      </p:sp>
      <p:sp>
        <p:nvSpPr>
          <p:cNvPr id="21" name="Text 19"/>
          <p:cNvSpPr/>
          <p:nvPr/>
        </p:nvSpPr>
        <p:spPr>
          <a:xfrm>
            <a:off x="4553712" y="1755648"/>
            <a:ext cx="402336" cy="40233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014216" y="2212848"/>
            <a:ext cx="1481328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Review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014216" y="2487168"/>
            <a:ext cx="1481328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C6C25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Admin / QC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041648" y="2706624"/>
            <a:ext cx="1426464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Tinjau detail pengajuan; dapat Assign Petugas setelah disetujui.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541264" y="1737360"/>
            <a:ext cx="182880" cy="40233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C6C25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724144" y="1645920"/>
            <a:ext cx="1572768" cy="17373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27" name="Shape 25"/>
          <p:cNvSpPr/>
          <p:nvPr/>
        </p:nvSpPr>
        <p:spPr>
          <a:xfrm>
            <a:off x="6309360" y="1755648"/>
            <a:ext cx="402336" cy="402336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28" name="Text 26"/>
          <p:cNvSpPr/>
          <p:nvPr/>
        </p:nvSpPr>
        <p:spPr>
          <a:xfrm>
            <a:off x="6309360" y="1755648"/>
            <a:ext cx="402336" cy="40233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769864" y="2212848"/>
            <a:ext cx="1481328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Keputusan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769864" y="2487168"/>
            <a:ext cx="1481328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C6C25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Admin / QC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797296" y="2706624"/>
            <a:ext cx="1426464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Setuju -&gt; Approved &amp; otomatis buat Jadwal. Tolak -&gt; Rejected (wajib catatan).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296912" y="1737360"/>
            <a:ext cx="182880" cy="40233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C6C25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→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479792" y="1645920"/>
            <a:ext cx="1572768" cy="17373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34" name="Shape 32"/>
          <p:cNvSpPr/>
          <p:nvPr/>
        </p:nvSpPr>
        <p:spPr>
          <a:xfrm>
            <a:off x="8065008" y="1755648"/>
            <a:ext cx="402336" cy="402336"/>
          </a:xfrm>
          <a:prstGeom prst="ellipse">
            <a:avLst/>
          </a:prstGeom>
          <a:solidFill>
            <a:srgbClr val="283618"/>
          </a:solidFill>
        </p:spPr>
        <p:txBody>
          <a:bodyPr/>
          <a:lstStyle/>
          <a:p/>
        </p:txBody>
      </p:sp>
      <p:sp>
        <p:nvSpPr>
          <p:cNvPr id="35" name="Text 33"/>
          <p:cNvSpPr/>
          <p:nvPr/>
        </p:nvSpPr>
        <p:spPr>
          <a:xfrm>
            <a:off x="8065008" y="1755648"/>
            <a:ext cx="402336" cy="40233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5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7525512" y="2212848"/>
            <a:ext cx="1481328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Tindak Lanjut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525512" y="2487168"/>
            <a:ext cx="1481328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C6C25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Sistem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552944" y="2706624"/>
            <a:ext cx="1426464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Jadwal muncul di petugas. Ditolak -&gt; Admin revisi -&gt; Pending. Petugas dapat Batalkan.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48640" y="3364992"/>
            <a:ext cx="4572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Catatan: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66928" y="3694176"/>
            <a:ext cx="128016" cy="128016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41" name="Text 39"/>
          <p:cNvSpPr/>
          <p:nvPr/>
        </p:nvSpPr>
        <p:spPr>
          <a:xfrm>
            <a:off x="822960" y="3602736"/>
            <a:ext cx="47548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Offline-ready: diajukan tanpa sinyal, auto-sync saat online.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66928" y="4078224"/>
            <a:ext cx="128016" cy="128016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43" name="Text 41"/>
          <p:cNvSpPr/>
          <p:nvPr/>
        </p:nvSpPr>
        <p:spPr>
          <a:xfrm>
            <a:off x="822960" y="3986784"/>
            <a:ext cx="47548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Otomatis: disetujui -&gt; langsung jadi Jadwal Kunjungan.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6928" y="4462272"/>
            <a:ext cx="128016" cy="128016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45" name="Text 43"/>
          <p:cNvSpPr/>
          <p:nvPr/>
        </p:nvSpPr>
        <p:spPr>
          <a:xfrm>
            <a:off x="822960" y="4370832"/>
            <a:ext cx="47548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Validasi: RLS per kabupaten; foto via signed URL (maks 10, kompres WebP).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69280" y="3566160"/>
            <a:ext cx="29260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875">
            <a:solidFill>
              <a:srgbClr val="BC6C25"/>
            </a:solidFill>
            <a:prstDash val="dash"/>
          </a:ln>
        </p:spPr>
        <p:txBody>
          <a:bodyPr/>
          <a:lstStyle/>
          <a:p/>
        </p:txBody>
      </p:sp>
      <p:sp>
        <p:nvSpPr>
          <p:cNvPr id="47" name="Text 45"/>
          <p:cNvSpPr/>
          <p:nvPr/>
        </p:nvSpPr>
        <p:spPr>
          <a:xfrm>
            <a:off x="5669280" y="3566160"/>
            <a:ext cx="2926080" cy="1051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8361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GAMBAR UI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Daftar / Detail Pengajuan Lahan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49" name="Text 4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C6C25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Galeri Antarmuka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76072"/>
            <a:ext cx="80467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Contoh Tampilan Antarmuka FVMS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1005840" cy="64008"/>
          </a:xfrm>
          <a:prstGeom prst="rect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5" name="Shape 3"/>
          <p:cNvSpPr/>
          <p:nvPr/>
        </p:nvSpPr>
        <p:spPr>
          <a:xfrm>
            <a:off x="548640" y="1645920"/>
            <a:ext cx="39319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5875">
            <a:solidFill>
              <a:srgbClr val="BC6C25"/>
            </a:solidFill>
            <a:prstDash val="dash"/>
          </a:ln>
        </p:spPr>
        <p:txBody>
          <a:bodyPr/>
          <a:lstStyle/>
          <a:p/>
        </p:txBody>
      </p:sp>
      <p:sp>
        <p:nvSpPr>
          <p:cNvPr id="6" name="Text 4"/>
          <p:cNvSpPr/>
          <p:nvPr/>
        </p:nvSpPr>
        <p:spPr>
          <a:xfrm>
            <a:off x="548640" y="1645920"/>
            <a:ext cx="3931920" cy="1417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8361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GAMBAR UI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Tambahkan screenshot: Dashboard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090672"/>
            <a:ext cx="39319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Dashboard — Ringkasan statistik &amp; jadwal hari ini.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54880" y="1645920"/>
            <a:ext cx="39319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5875">
            <a:solidFill>
              <a:srgbClr val="BC6C25"/>
            </a:solidFill>
            <a:prstDash val="dash"/>
          </a:ln>
        </p:spPr>
        <p:txBody>
          <a:bodyPr/>
          <a:lstStyle/>
          <a:p/>
        </p:txBody>
      </p:sp>
      <p:sp>
        <p:nvSpPr>
          <p:cNvPr id="9" name="Text 7"/>
          <p:cNvSpPr/>
          <p:nvPr/>
        </p:nvSpPr>
        <p:spPr>
          <a:xfrm>
            <a:off x="4754880" y="1645920"/>
            <a:ext cx="3931920" cy="1417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8361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GAMBAR UI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Tambahkan screenshot: Jadwal &amp; Kalender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0" y="3090672"/>
            <a:ext cx="39319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Jadwal &amp; Kalender — Daftar kunjungan per hari dengan filter.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474720"/>
            <a:ext cx="39319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5875">
            <a:solidFill>
              <a:srgbClr val="BC6C25"/>
            </a:solidFill>
            <a:prstDash val="dash"/>
          </a:ln>
        </p:spPr>
        <p:txBody>
          <a:bodyPr/>
          <a:lstStyle/>
          <a:p/>
        </p:txBody>
      </p:sp>
      <p:sp>
        <p:nvSpPr>
          <p:cNvPr id="12" name="Text 10"/>
          <p:cNvSpPr/>
          <p:nvPr/>
        </p:nvSpPr>
        <p:spPr>
          <a:xfrm>
            <a:off x="548640" y="3474720"/>
            <a:ext cx="3931920" cy="1417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8361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GAMBAR UI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Tambahkan screenshot: Kunjungan (GPS + Foto)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4919472"/>
            <a:ext cx="39319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Kunjungan (GPS + Foto) — Validasi lokasi &amp; unggah foto bukti.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54880" y="3474720"/>
            <a:ext cx="39319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5875">
            <a:solidFill>
              <a:srgbClr val="BC6C25"/>
            </a:solidFill>
            <a:prstDash val="dash"/>
          </a:ln>
        </p:spPr>
        <p:txBody>
          <a:bodyPr/>
          <a:lstStyle/>
          <a:p/>
        </p:txBody>
      </p:sp>
      <p:sp>
        <p:nvSpPr>
          <p:cNvPr id="15" name="Text 13"/>
          <p:cNvSpPr/>
          <p:nvPr/>
        </p:nvSpPr>
        <p:spPr>
          <a:xfrm>
            <a:off x="4754880" y="3474720"/>
            <a:ext cx="3931920" cy="1417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8361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GAMBAR UI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Tambahkan screenshot: Laporan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54880" y="4919472"/>
            <a:ext cx="39319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Laporan — Rekap agregat &amp; tabel per petugas.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18" name="Text 16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C6C25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Alur Kerja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76072"/>
            <a:ext cx="80467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Dari Jadwal Hingga Laporan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1005840" cy="64008"/>
          </a:xfrm>
          <a:prstGeom prst="rect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5" name="Shape 3"/>
          <p:cNvSpPr/>
          <p:nvPr/>
        </p:nvSpPr>
        <p:spPr>
          <a:xfrm>
            <a:off x="1120140" y="2194560"/>
            <a:ext cx="822960" cy="822960"/>
          </a:xfrm>
          <a:prstGeom prst="ellipse">
            <a:avLst/>
          </a:prstGeom>
          <a:solidFill>
            <a:srgbClr val="283618"/>
          </a:solidFill>
        </p:spPr>
        <p:txBody>
          <a:bodyPr/>
          <a:lstStyle/>
          <a:p/>
        </p:txBody>
      </p:sp>
      <p:sp>
        <p:nvSpPr>
          <p:cNvPr id="6" name="Text 4"/>
          <p:cNvSpPr/>
          <p:nvPr/>
        </p:nvSpPr>
        <p:spPr>
          <a:xfrm>
            <a:off x="1120140" y="2194560"/>
            <a:ext cx="82296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3108960"/>
            <a:ext cx="2148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Import Jadwal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11480" y="3493008"/>
            <a:ext cx="22402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Upload Excel → akun &amp; jadwal otomatis.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623060" y="2286000"/>
            <a:ext cx="609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C6C25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147060" y="2194560"/>
            <a:ext cx="822960" cy="822960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11" name="Text 9"/>
          <p:cNvSpPr/>
          <p:nvPr/>
        </p:nvSpPr>
        <p:spPr>
          <a:xfrm>
            <a:off x="3147060" y="2194560"/>
            <a:ext cx="82296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484120" y="3108960"/>
            <a:ext cx="2148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Penugasan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438400" y="3493008"/>
            <a:ext cx="22402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Petugas menerima jadwal harian.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49980" y="2286000"/>
            <a:ext cx="609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C6C25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173980" y="2194560"/>
            <a:ext cx="822960" cy="822960"/>
          </a:xfrm>
          <a:prstGeom prst="ellipse">
            <a:avLst/>
          </a:prstGeom>
          <a:solidFill>
            <a:srgbClr val="283618"/>
          </a:solidFill>
        </p:spPr>
        <p:txBody>
          <a:bodyPr/>
          <a:lstStyle/>
          <a:p/>
        </p:txBody>
      </p:sp>
      <p:sp>
        <p:nvSpPr>
          <p:cNvPr id="16" name="Text 14"/>
          <p:cNvSpPr/>
          <p:nvPr/>
        </p:nvSpPr>
        <p:spPr>
          <a:xfrm>
            <a:off x="5173980" y="2194560"/>
            <a:ext cx="82296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511040" y="3108960"/>
            <a:ext cx="2148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Kunjungan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465320" y="3493008"/>
            <a:ext cx="22402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Catat GPS, foto, &amp; status di lapangan.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76900" y="2286000"/>
            <a:ext cx="609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C6C25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7200900" y="2194560"/>
            <a:ext cx="822960" cy="822960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21" name="Text 19"/>
          <p:cNvSpPr/>
          <p:nvPr/>
        </p:nvSpPr>
        <p:spPr>
          <a:xfrm>
            <a:off x="7200900" y="2194560"/>
            <a:ext cx="82296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6537960" y="3108960"/>
            <a:ext cx="2148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Pelaporan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92240" y="3493008"/>
            <a:ext cx="22402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Dashboard &amp; laporan rekap otomatis.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25" name="Text 2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C6C25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Peran Pengguna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76072"/>
            <a:ext cx="80467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Tiga Peran, Satu Sistem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1005840" cy="64008"/>
          </a:xfrm>
          <a:prstGeom prst="rect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5" name="Shape 3"/>
          <p:cNvSpPr/>
          <p:nvPr/>
        </p:nvSpPr>
        <p:spPr>
          <a:xfrm>
            <a:off x="548640" y="1645920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6" name="Shape 4"/>
          <p:cNvSpPr/>
          <p:nvPr/>
        </p:nvSpPr>
        <p:spPr>
          <a:xfrm>
            <a:off x="548640" y="1645920"/>
            <a:ext cx="2651760" cy="640080"/>
          </a:xfrm>
          <a:prstGeom prst="rect">
            <a:avLst/>
          </a:prstGeom>
          <a:solidFill>
            <a:srgbClr val="283618"/>
          </a:solidFill>
        </p:spPr>
        <p:txBody>
          <a:bodyPr/>
          <a:lstStyle/>
          <a:p/>
        </p:txBody>
      </p:sp>
      <p:sp>
        <p:nvSpPr>
          <p:cNvPr id="7" name="Text 5"/>
          <p:cNvSpPr/>
          <p:nvPr/>
        </p:nvSpPr>
        <p:spPr>
          <a:xfrm>
            <a:off x="548640" y="1645920"/>
            <a:ext cx="26517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Admin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2194560" cy="1645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Akses penuh: kelola pengguna, master data, import, &amp; reset data.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74720" y="1645920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10" name="Shape 8"/>
          <p:cNvSpPr/>
          <p:nvPr/>
        </p:nvSpPr>
        <p:spPr>
          <a:xfrm>
            <a:off x="3474720" y="1645920"/>
            <a:ext cx="2651760" cy="640080"/>
          </a:xfrm>
          <a:prstGeom prst="rect">
            <a:avLst/>
          </a:prstGeom>
          <a:solidFill>
            <a:srgbClr val="606C38"/>
          </a:solidFill>
        </p:spPr>
        <p:txBody>
          <a:bodyPr/>
          <a:lstStyle/>
          <a:p/>
        </p:txBody>
      </p:sp>
      <p:sp>
        <p:nvSpPr>
          <p:cNvPr id="11" name="Text 9"/>
          <p:cNvSpPr/>
          <p:nvPr/>
        </p:nvSpPr>
        <p:spPr>
          <a:xfrm>
            <a:off x="3474720" y="1645920"/>
            <a:ext cx="26517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QC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703320" y="2514600"/>
            <a:ext cx="2194560" cy="1645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Quality Control: scope per kabupaten, unggah foto &amp; catat GPS.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0" y="1645920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14" name="Shape 12"/>
          <p:cNvSpPr/>
          <p:nvPr/>
        </p:nvSpPr>
        <p:spPr>
          <a:xfrm>
            <a:off x="6400800" y="1645920"/>
            <a:ext cx="2651760" cy="640080"/>
          </a:xfrm>
          <a:prstGeom prst="rect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15" name="Text 13"/>
          <p:cNvSpPr/>
          <p:nvPr/>
        </p:nvSpPr>
        <p:spPr>
          <a:xfrm>
            <a:off x="6400800" y="1645920"/>
            <a:ext cx="26517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Produksi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629400" y="2514600"/>
            <a:ext cx="2194560" cy="1645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Petugas lapangan: kelola jadwal &amp; kunjungan sendiri.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18" name="Text 16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C6C25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Keamanan &amp; Teknologi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76072"/>
            <a:ext cx="80467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Fondasi yang Andal &amp; Aman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1005840" cy="64008"/>
          </a:xfrm>
          <a:prstGeom prst="rect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393192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6" name="Text 4"/>
          <p:cNvSpPr/>
          <p:nvPr/>
        </p:nvSpPr>
        <p:spPr>
          <a:xfrm>
            <a:off x="777240" y="1783080"/>
            <a:ext cx="34747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Teknologi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2331720"/>
            <a:ext cx="146304" cy="146304"/>
          </a:xfrm>
          <a:prstGeom prst="ellipse">
            <a:avLst/>
          </a:prstGeom>
          <a:solidFill>
            <a:srgbClr val="606C38"/>
          </a:solidFill>
        </p:spPr>
        <p:txBody>
          <a:bodyPr/>
          <a:lstStyle/>
          <a:p/>
        </p:txBody>
      </p:sp>
      <p:sp>
        <p:nvSpPr>
          <p:cNvPr id="8" name="Text 6"/>
          <p:cNvSpPr/>
          <p:nvPr/>
        </p:nvSpPr>
        <p:spPr>
          <a:xfrm>
            <a:off x="1024128" y="2249424"/>
            <a:ext cx="32918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Next.js 16 &amp; React (TypeScript)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743200"/>
            <a:ext cx="146304" cy="146304"/>
          </a:xfrm>
          <a:prstGeom prst="ellipse">
            <a:avLst/>
          </a:prstGeom>
          <a:solidFill>
            <a:srgbClr val="606C38"/>
          </a:solidFill>
        </p:spPr>
        <p:txBody>
          <a:bodyPr/>
          <a:lstStyle/>
          <a:p/>
        </p:txBody>
      </p:sp>
      <p:sp>
        <p:nvSpPr>
          <p:cNvPr id="10" name="Text 8"/>
          <p:cNvSpPr/>
          <p:nvPr/>
        </p:nvSpPr>
        <p:spPr>
          <a:xfrm>
            <a:off x="1024128" y="2660904"/>
            <a:ext cx="32918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Supabase: PostgreSQL, Auth, Storage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3154680"/>
            <a:ext cx="146304" cy="146304"/>
          </a:xfrm>
          <a:prstGeom prst="ellipse">
            <a:avLst/>
          </a:prstGeom>
          <a:solidFill>
            <a:srgbClr val="606C38"/>
          </a:solidFill>
        </p:spPr>
        <p:txBody>
          <a:bodyPr/>
          <a:lstStyle/>
          <a:p/>
        </p:txBody>
      </p:sp>
      <p:sp>
        <p:nvSpPr>
          <p:cNvPr id="12" name="Text 10"/>
          <p:cNvSpPr/>
          <p:nvPr/>
        </p:nvSpPr>
        <p:spPr>
          <a:xfrm>
            <a:off x="1024128" y="3072384"/>
            <a:ext cx="32918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Tailwind CSS &amp; shadcn/ui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" y="3566160"/>
            <a:ext cx="146304" cy="146304"/>
          </a:xfrm>
          <a:prstGeom prst="ellipse">
            <a:avLst/>
          </a:prstGeom>
          <a:solidFill>
            <a:srgbClr val="606C38"/>
          </a:solidFill>
        </p:spPr>
        <p:txBody>
          <a:bodyPr/>
          <a:lstStyle/>
          <a:p/>
        </p:txBody>
      </p:sp>
      <p:sp>
        <p:nvSpPr>
          <p:cNvPr id="14" name="Text 12"/>
          <p:cNvSpPr/>
          <p:nvPr/>
        </p:nvSpPr>
        <p:spPr>
          <a:xfrm>
            <a:off x="1024128" y="3483864"/>
            <a:ext cx="32918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PWA — mendukung mode offline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7240" y="3977640"/>
            <a:ext cx="146304" cy="146304"/>
          </a:xfrm>
          <a:prstGeom prst="ellipse">
            <a:avLst/>
          </a:prstGeom>
          <a:solidFill>
            <a:srgbClr val="606C38"/>
          </a:solidFill>
        </p:spPr>
        <p:txBody>
          <a:bodyPr/>
          <a:lstStyle/>
          <a:p/>
        </p:txBody>
      </p:sp>
      <p:sp>
        <p:nvSpPr>
          <p:cNvPr id="16" name="Text 14"/>
          <p:cNvSpPr/>
          <p:nvPr/>
        </p:nvSpPr>
        <p:spPr>
          <a:xfrm>
            <a:off x="1024128" y="3895344"/>
            <a:ext cx="32918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Deploy Vercel + cron harian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63440" y="1600200"/>
            <a:ext cx="3931920" cy="2743200"/>
          </a:xfrm>
          <a:prstGeom prst="roundRect">
            <a:avLst>
              <a:gd name="adj" fmla="val 3333"/>
            </a:avLst>
          </a:prstGeom>
          <a:solidFill>
            <a:srgbClr val="283618"/>
          </a:solidFill>
        </p:spPr>
        <p:txBody>
          <a:bodyPr/>
          <a:lstStyle/>
          <a:p/>
        </p:txBody>
      </p:sp>
      <p:sp>
        <p:nvSpPr>
          <p:cNvPr id="18" name="Text 16"/>
          <p:cNvSpPr/>
          <p:nvPr/>
        </p:nvSpPr>
        <p:spPr>
          <a:xfrm>
            <a:off x="4892040" y="1783080"/>
            <a:ext cx="34747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Keamanan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892040" y="2331720"/>
            <a:ext cx="146304" cy="146304"/>
          </a:xfrm>
          <a:prstGeom prst="ellipse">
            <a:avLst/>
          </a:prstGeom>
          <a:solidFill>
            <a:srgbClr val="DDA15E"/>
          </a:solidFill>
        </p:spPr>
        <p:txBody>
          <a:bodyPr/>
          <a:lstStyle/>
          <a:p/>
        </p:txBody>
      </p:sp>
      <p:sp>
        <p:nvSpPr>
          <p:cNvPr id="20" name="Text 18"/>
          <p:cNvSpPr/>
          <p:nvPr/>
        </p:nvSpPr>
        <p:spPr>
          <a:xfrm>
            <a:off x="5138928" y="2249424"/>
            <a:ext cx="32918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Row-Level Security per peran (RLS)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892040" y="2743200"/>
            <a:ext cx="146304" cy="146304"/>
          </a:xfrm>
          <a:prstGeom prst="ellipse">
            <a:avLst/>
          </a:prstGeom>
          <a:solidFill>
            <a:srgbClr val="DDA15E"/>
          </a:solidFill>
        </p:spPr>
        <p:txBody>
          <a:bodyPr/>
          <a:lstStyle/>
          <a:p/>
        </p:txBody>
      </p:sp>
      <p:sp>
        <p:nvSpPr>
          <p:cNvPr id="22" name="Text 20"/>
          <p:cNvSpPr/>
          <p:nvPr/>
        </p:nvSpPr>
        <p:spPr>
          <a:xfrm>
            <a:off x="5138928" y="2660904"/>
            <a:ext cx="32918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Foto di private bucket (signed URL)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92040" y="3154680"/>
            <a:ext cx="146304" cy="146304"/>
          </a:xfrm>
          <a:prstGeom prst="ellipse">
            <a:avLst/>
          </a:prstGeom>
          <a:solidFill>
            <a:srgbClr val="DDA15E"/>
          </a:solidFill>
        </p:spPr>
        <p:txBody>
          <a:bodyPr/>
          <a:lstStyle/>
          <a:p/>
        </p:txBody>
      </p:sp>
      <p:sp>
        <p:nvSpPr>
          <p:cNvPr id="24" name="Text 22"/>
          <p:cNvSpPr/>
          <p:nvPr/>
        </p:nvSpPr>
        <p:spPr>
          <a:xfrm>
            <a:off x="5138928" y="3072384"/>
            <a:ext cx="32918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Rate-limit login &amp; reset password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92040" y="3566160"/>
            <a:ext cx="146304" cy="146304"/>
          </a:xfrm>
          <a:prstGeom prst="ellipse">
            <a:avLst/>
          </a:prstGeom>
          <a:solidFill>
            <a:srgbClr val="DDA15E"/>
          </a:solidFill>
        </p:spPr>
        <p:txBody>
          <a:bodyPr/>
          <a:lstStyle/>
          <a:p/>
        </p:txBody>
      </p:sp>
      <p:sp>
        <p:nvSpPr>
          <p:cNvPr id="26" name="Text 24"/>
          <p:cNvSpPr/>
          <p:nvPr/>
        </p:nvSpPr>
        <p:spPr>
          <a:xfrm>
            <a:off x="5138928" y="3483864"/>
            <a:ext cx="32918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CSP &amp; security headers ketat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892040" y="3977640"/>
            <a:ext cx="146304" cy="146304"/>
          </a:xfrm>
          <a:prstGeom prst="ellipse">
            <a:avLst/>
          </a:prstGeom>
          <a:solidFill>
            <a:srgbClr val="DDA15E"/>
          </a:solidFill>
        </p:spPr>
        <p:txBody>
          <a:bodyPr/>
          <a:lstStyle/>
          <a:p/>
        </p:txBody>
      </p:sp>
      <p:sp>
        <p:nvSpPr>
          <p:cNvPr id="28" name="Text 26"/>
          <p:cNvSpPr/>
          <p:nvPr/>
        </p:nvSpPr>
        <p:spPr>
          <a:xfrm>
            <a:off x="5138928" y="3895344"/>
            <a:ext cx="32918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Logger terstruktur + request-ID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30" name="Text 28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C6C25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Manfaat &amp; Nilai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76072"/>
            <a:ext cx="80467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Nilai yang Diterima Klien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1005840" cy="64008"/>
          </a:xfrm>
          <a:prstGeom prst="rect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393192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6" name="Shape 4"/>
          <p:cNvSpPr/>
          <p:nvPr/>
        </p:nvSpPr>
        <p:spPr>
          <a:xfrm>
            <a:off x="731520" y="182880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7" name="Text 5"/>
          <p:cNvSpPr/>
          <p:nvPr/>
        </p:nvSpPr>
        <p:spPr>
          <a:xfrm>
            <a:off x="731520" y="1828800"/>
            <a:ext cx="12801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100%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48840" y="1783080"/>
            <a:ext cx="214884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Digital &amp; real-time, bukan kertas/Excel.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54880" y="1600200"/>
            <a:ext cx="393192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10" name="Shape 8"/>
          <p:cNvSpPr/>
          <p:nvPr/>
        </p:nvSpPr>
        <p:spPr>
          <a:xfrm>
            <a:off x="4937760" y="182880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11" name="Text 9"/>
          <p:cNvSpPr/>
          <p:nvPr/>
        </p:nvSpPr>
        <p:spPr>
          <a:xfrm>
            <a:off x="4937760" y="1828800"/>
            <a:ext cx="12801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WAKTU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55080" y="1783080"/>
            <a:ext cx="214884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Rekap laporan berjam-jam jadi hitungan menit.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154680"/>
            <a:ext cx="393192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14" name="Shape 12"/>
          <p:cNvSpPr/>
          <p:nvPr/>
        </p:nvSpPr>
        <p:spPr>
          <a:xfrm>
            <a:off x="731520" y="338328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15" name="Text 13"/>
          <p:cNvSpPr/>
          <p:nvPr/>
        </p:nvSpPr>
        <p:spPr>
          <a:xfrm>
            <a:off x="731520" y="3383280"/>
            <a:ext cx="12801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VALID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148840" y="3337560"/>
            <a:ext cx="214884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Bukti kunjungan terjamin: GPS + foto.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0" y="3154680"/>
            <a:ext cx="393192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18" name="Shape 16"/>
          <p:cNvSpPr/>
          <p:nvPr/>
        </p:nvSpPr>
        <p:spPr>
          <a:xfrm>
            <a:off x="4937760" y="338328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19" name="Text 17"/>
          <p:cNvSpPr/>
          <p:nvPr/>
        </p:nvSpPr>
        <p:spPr>
          <a:xfrm>
            <a:off x="4937760" y="3383280"/>
            <a:ext cx="12801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MOBILE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55080" y="3337560"/>
            <a:ext cx="214884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Akses HP &amp; tetap jalan saat offline.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22" name="Text 20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C6C25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Roadmap Implementasi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76072"/>
            <a:ext cx="80467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Empat Fase Menuju Go-Live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1005840" cy="64008"/>
          </a:xfrm>
          <a:prstGeom prst="rect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5" name="Shape 3"/>
          <p:cNvSpPr/>
          <p:nvPr/>
        </p:nvSpPr>
        <p:spPr>
          <a:xfrm>
            <a:off x="1531620" y="2423160"/>
            <a:ext cx="6080760" cy="0"/>
          </a:xfrm>
          <a:prstGeom prst="line">
            <a:avLst/>
          </a:prstGeom>
          <a:noFill/>
          <a:ln w="25400">
            <a:solidFill>
              <a:srgbClr val="DDA15E"/>
            </a:solidFill>
            <a:prstDash val="solid"/>
          </a:ln>
        </p:spPr>
        <p:txBody>
          <a:bodyPr/>
          <a:lstStyle/>
          <a:p/>
        </p:txBody>
      </p:sp>
      <p:sp>
        <p:nvSpPr>
          <p:cNvPr id="6" name="Shape 4"/>
          <p:cNvSpPr/>
          <p:nvPr/>
        </p:nvSpPr>
        <p:spPr>
          <a:xfrm>
            <a:off x="1211580" y="2103120"/>
            <a:ext cx="640080" cy="640080"/>
          </a:xfrm>
          <a:prstGeom prst="ellipse">
            <a:avLst/>
          </a:prstGeom>
          <a:solidFill>
            <a:srgbClr val="283618"/>
          </a:solidFill>
        </p:spPr>
        <p:txBody>
          <a:bodyPr/>
          <a:lstStyle/>
          <a:p/>
        </p:txBody>
      </p:sp>
      <p:sp>
        <p:nvSpPr>
          <p:cNvPr id="7" name="Text 5"/>
          <p:cNvSpPr/>
          <p:nvPr/>
        </p:nvSpPr>
        <p:spPr>
          <a:xfrm>
            <a:off x="1211580" y="2103120"/>
            <a:ext cx="6400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2880360"/>
            <a:ext cx="21488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Fase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3218688"/>
            <a:ext cx="224028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Setup &amp; Migrasi Data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3749040"/>
            <a:ext cx="22402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C6C25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Minggu 1-2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38500" y="2103120"/>
            <a:ext cx="640080" cy="640080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12" name="Text 10"/>
          <p:cNvSpPr/>
          <p:nvPr/>
        </p:nvSpPr>
        <p:spPr>
          <a:xfrm>
            <a:off x="3238500" y="2103120"/>
            <a:ext cx="6400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484120" y="2880360"/>
            <a:ext cx="21488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Fase 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438400" y="3218688"/>
            <a:ext cx="224028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Pelatihan &amp; Uji Coba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438400" y="3749040"/>
            <a:ext cx="22402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C6C25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Minggu 3-4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65420" y="2103120"/>
            <a:ext cx="640080" cy="640080"/>
          </a:xfrm>
          <a:prstGeom prst="ellipse">
            <a:avLst/>
          </a:prstGeom>
          <a:solidFill>
            <a:srgbClr val="283618"/>
          </a:solidFill>
        </p:spPr>
        <p:txBody>
          <a:bodyPr/>
          <a:lstStyle/>
          <a:p/>
        </p:txBody>
      </p:sp>
      <p:sp>
        <p:nvSpPr>
          <p:cNvPr id="17" name="Text 15"/>
          <p:cNvSpPr/>
          <p:nvPr/>
        </p:nvSpPr>
        <p:spPr>
          <a:xfrm>
            <a:off x="5265420" y="2103120"/>
            <a:ext cx="6400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511040" y="2880360"/>
            <a:ext cx="21488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Fase 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465320" y="3218688"/>
            <a:ext cx="224028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Go-Live &amp; Monitoring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65320" y="3749040"/>
            <a:ext cx="22402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C6C25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Minggu 5-6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292340" y="2103120"/>
            <a:ext cx="640080" cy="640080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22" name="Text 20"/>
          <p:cNvSpPr/>
          <p:nvPr/>
        </p:nvSpPr>
        <p:spPr>
          <a:xfrm>
            <a:off x="7292340" y="2103120"/>
            <a:ext cx="6400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537960" y="2880360"/>
            <a:ext cx="21488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83618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Fase 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92240" y="3218688"/>
            <a:ext cx="224028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06C38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Pengembangan Lanjutan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3749040"/>
            <a:ext cx="22402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C6C25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Berkelanjutan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27" name="Text 2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836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3" name="Text 1"/>
          <p:cNvSpPr/>
          <p:nvPr/>
        </p:nvSpPr>
        <p:spPr>
          <a:xfrm>
            <a:off x="640080" y="457200"/>
            <a:ext cx="7772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DDA15E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PENAWARAN &amp; LANGKAH SELANJUTNYA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786384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Mari Digitalkan Kunjungan Lapangan Anda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365760" cy="365760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6" name="Text 4"/>
          <p:cNvSpPr/>
          <p:nvPr/>
        </p:nvSpPr>
        <p:spPr>
          <a:xfrm>
            <a:off x="685800" y="19202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1901952"/>
            <a:ext cx="685800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Demo langsung produk FVMS.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468880"/>
            <a:ext cx="365760" cy="365760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9" name="Text 7"/>
          <p:cNvSpPr/>
          <p:nvPr/>
        </p:nvSpPr>
        <p:spPr>
          <a:xfrm>
            <a:off x="685800" y="246888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2450592"/>
            <a:ext cx="685800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Penyesuaian kebutuhan &amp; penandatanganan.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017520"/>
            <a:ext cx="365760" cy="365760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12" name="Text 10"/>
          <p:cNvSpPr/>
          <p:nvPr/>
        </p:nvSpPr>
        <p:spPr>
          <a:xfrm>
            <a:off x="685800" y="301752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0"/>
                <a:cs typeface="Trebuchet MS" pitchFamily="34" charset="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2999232"/>
            <a:ext cx="685800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Kick-off &amp; implementasi roadmap.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931920"/>
            <a:ext cx="7863840" cy="914400"/>
          </a:xfrm>
          <a:prstGeom prst="roundRect">
            <a:avLst>
              <a:gd name="adj" fmla="val 10000"/>
            </a:avLst>
          </a:prstGeom>
          <a:solidFill>
            <a:srgbClr val="606C38"/>
          </a:solidFill>
        </p:spPr>
        <p:txBody>
          <a:bodyPr/>
          <a:lstStyle/>
          <a:p/>
        </p:txBody>
      </p:sp>
      <p:sp>
        <p:nvSpPr>
          <p:cNvPr id="16" name="Text 14"/>
          <p:cNvSpPr/>
          <p:nvPr/>
        </p:nvSpPr>
        <p:spPr>
          <a:xfrm>
            <a:off x="914400" y="3931920"/>
            <a:ext cx="740664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Akbar Sinyo</a:t>
            </a:r>
            <a:r>
              <a:rPr lang="en-US" sz="1200" dirty="0">
                <a:solidFill>
                  <a:srgbClr val="DDA15E"/>
                </a:solidFill>
                <a:latin typeface="Calibri" pitchFamily="34" charset="0" panose="020F0502020204030204"/>
                <a:ea typeface="Calibri" pitchFamily="34" charset="0" panose="020F0502020204030204"/>
                <a:cs typeface="Calibri" pitchFamily="34" charset="0" panose="020F0502020204030204"/>
              </a:rPr>
              <a:t>    |    akbarsinyotahe@gmail.com    |    https://github.com/sin-app/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BC6C25"/>
          </a:solidFill>
        </p:spPr>
        <p:txBody>
          <a:bodyPr/>
          <a:lstStyle/>
          <a:p/>
        </p:txBody>
      </p:sp>
      <p:sp>
        <p:nvSpPr>
          <p:cNvPr id="18" name="Text 16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2026-08-15T16:29:35Z</dcterms:created>
  <dcterms:modified xsi:type="dcterms:W3CDTF">2026-08-15T16:47:34Z</dcterms:modified>
</cp:coreProperties>
</file>